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758480"/>
            <a:ext cx="10883392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3F7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Report Explainer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12800" y="370840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9D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 your lab results in simple English or Arabic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results are hard to read when you are worried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2630884"/>
            <a:ext cx="3380284" cy="1705570"/>
          </a:xfrm>
          <a:prstGeom prst="roundRect">
            <a:avLst>
              <a:gd name="adj" fmla="val 5771"/>
            </a:avLst>
          </a:prstGeom>
          <a:solidFill>
            <a:srgbClr val="FFFFFF"/>
          </a:solidFill>
          <a:ln w="6350">
            <a:solidFill>
              <a:srgbClr val="DDE5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2888059"/>
            <a:ext cx="295191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B7A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Confusing numbers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73150" y="3279180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Hb, MCV, HbA1c, ALT... most people do not know what these mean.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09" y="2630884"/>
            <a:ext cx="3380383" cy="1705570"/>
          </a:xfrm>
          <a:prstGeom prst="roundRect">
            <a:avLst>
              <a:gd name="adj" fmla="val 5771"/>
            </a:avLst>
          </a:prstGeom>
          <a:solidFill>
            <a:srgbClr val="FFFFFF"/>
          </a:solidFill>
          <a:ln w="6350">
            <a:solidFill>
              <a:srgbClr val="DDE5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2984" y="2888059"/>
            <a:ext cx="2952014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B7A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Waiting and worrying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662984" y="3279180"/>
            <a:ext cx="295201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often arrive before the doctor visit, and fear fills the gap.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741" y="2630884"/>
            <a:ext cx="3380284" cy="1705570"/>
          </a:xfrm>
          <a:prstGeom prst="roundRect">
            <a:avLst>
              <a:gd name="adj" fmla="val 5771"/>
            </a:avLst>
          </a:prstGeom>
          <a:solidFill>
            <a:srgbClr val="FFFFFF"/>
          </a:solidFill>
          <a:ln w="6350">
            <a:solidFill>
              <a:srgbClr val="DDE5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916" y="2888059"/>
            <a:ext cx="295191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B7A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idea what to ask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52916" y="3279180"/>
            <a:ext cx="29519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Patients leave without knowing which results matter most.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5707459"/>
            <a:ext cx="1088339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0B7A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need a calm, simple explanation they can trust.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your report, get a clear explanation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2781995"/>
            <a:ext cx="2501900" cy="1438870"/>
          </a:xfrm>
          <a:prstGeom prst="roundRect">
            <a:avLst>
              <a:gd name="adj" fmla="val 6840"/>
            </a:avLst>
          </a:prstGeom>
          <a:solidFill>
            <a:srgbClr val="FFFFFF"/>
          </a:solidFill>
          <a:ln w="6350">
            <a:solidFill>
              <a:srgbClr val="DDE5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3039170"/>
            <a:ext cx="2047176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B7A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Paste or upload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73150" y="3430290"/>
            <a:ext cx="204717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text or a text-based PDF.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02025" y="2781995"/>
            <a:ext cx="2501900" cy="1438870"/>
          </a:xfrm>
          <a:prstGeom prst="roundRect">
            <a:avLst>
              <a:gd name="adj" fmla="val 6840"/>
            </a:avLst>
          </a:prstGeom>
          <a:solidFill>
            <a:srgbClr val="FFFFFF"/>
          </a:solidFill>
          <a:ln w="6350">
            <a:solidFill>
              <a:srgbClr val="DDE5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59200" y="3039170"/>
            <a:ext cx="2047176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B7A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Find the tests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759200" y="3430290"/>
            <a:ext cx="204717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Name, value, unit and range.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88075" y="2781995"/>
            <a:ext cx="2501900" cy="1438870"/>
          </a:xfrm>
          <a:prstGeom prst="roundRect">
            <a:avLst>
              <a:gd name="adj" fmla="val 6840"/>
            </a:avLst>
          </a:prstGeom>
          <a:solidFill>
            <a:srgbClr val="FFFFFF"/>
          </a:solidFill>
          <a:ln w="6350">
            <a:solidFill>
              <a:srgbClr val="DDE5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5250" y="3039170"/>
            <a:ext cx="2047176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B7A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Compare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45250" y="3430290"/>
            <a:ext cx="204717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value is Low, High or Normal.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74125" y="2781995"/>
            <a:ext cx="2501900" cy="1438870"/>
          </a:xfrm>
          <a:prstGeom prst="roundRect">
            <a:avLst>
              <a:gd name="adj" fmla="val 6840"/>
            </a:avLst>
          </a:prstGeom>
          <a:solidFill>
            <a:srgbClr val="FFFFFF"/>
          </a:solidFill>
          <a:ln w="6350">
            <a:solidFill>
              <a:srgbClr val="DDE5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31300" y="3039170"/>
            <a:ext cx="2047176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B7A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Explain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131300" y="3430290"/>
            <a:ext cx="204717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words, in English or Arabic.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574298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4A5B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Also shows which doctor to visit and what to ask.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app does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508125"/>
            <a:ext cx="3397250" cy="1438870"/>
          </a:xfrm>
          <a:prstGeom prst="roundRect">
            <a:avLst>
              <a:gd name="adj" fmla="val 6840"/>
            </a:avLst>
          </a:prstGeom>
          <a:solidFill>
            <a:srgbClr val="FFFFFF"/>
          </a:solidFill>
          <a:ln w="6350">
            <a:solidFill>
              <a:srgbClr val="DDE5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765300"/>
            <a:ext cx="296938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B7A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Finds abnormal results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73150" y="2156420"/>
            <a:ext cx="296938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and high values, sorted by distance from the range.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97375" y="1508125"/>
            <a:ext cx="3397250" cy="1438870"/>
          </a:xfrm>
          <a:prstGeom prst="roundRect">
            <a:avLst>
              <a:gd name="adj" fmla="val 6840"/>
            </a:avLst>
          </a:prstGeom>
          <a:solidFill>
            <a:srgbClr val="FFFFFF"/>
          </a:solidFill>
          <a:ln w="6350">
            <a:solidFill>
              <a:srgbClr val="DDE5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4550" y="1765300"/>
            <a:ext cx="296938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B7A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languages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654550" y="2156420"/>
            <a:ext cx="296938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English or Arabic. The page turns right-to-left for Arabic.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78775" y="1508125"/>
            <a:ext cx="3397250" cy="1438870"/>
          </a:xfrm>
          <a:prstGeom prst="roundRect">
            <a:avLst>
              <a:gd name="adj" fmla="val 6840"/>
            </a:avLst>
          </a:prstGeom>
          <a:solidFill>
            <a:srgbClr val="FFFFFF"/>
          </a:solidFill>
          <a:ln w="6350">
            <a:solidFill>
              <a:srgbClr val="DDE5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35950" y="1765300"/>
            <a:ext cx="296938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B7A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alerts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35950" y="2156420"/>
            <a:ext cx="296938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Dangerous values are marked urgent and shown first.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5975" y="3131145"/>
            <a:ext cx="3397250" cy="1438870"/>
          </a:xfrm>
          <a:prstGeom prst="roundRect">
            <a:avLst>
              <a:gd name="adj" fmla="val 6840"/>
            </a:avLst>
          </a:prstGeom>
          <a:solidFill>
            <a:srgbClr val="FFFFFF"/>
          </a:solidFill>
          <a:ln w="6350">
            <a:solidFill>
              <a:srgbClr val="DDE5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3150" y="3388320"/>
            <a:ext cx="296938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B7A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Patterns between tests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73150" y="3779441"/>
            <a:ext cx="296938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example low hemoglobin + low MCV + low ferritin.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97375" y="3131145"/>
            <a:ext cx="3397250" cy="1438870"/>
          </a:xfrm>
          <a:prstGeom prst="roundRect">
            <a:avLst>
              <a:gd name="adj" fmla="val 6840"/>
            </a:avLst>
          </a:prstGeom>
          <a:solidFill>
            <a:srgbClr val="FFFFFF"/>
          </a:solidFill>
          <a:ln w="6350">
            <a:solidFill>
              <a:srgbClr val="DDE5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550" y="3388320"/>
            <a:ext cx="296938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B7A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for the doctor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654550" y="3779441"/>
            <a:ext cx="29693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 the type of doctor to visit.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978775" y="3131145"/>
            <a:ext cx="3397250" cy="1438870"/>
          </a:xfrm>
          <a:prstGeom prst="roundRect">
            <a:avLst>
              <a:gd name="adj" fmla="val 6840"/>
            </a:avLst>
          </a:prstGeom>
          <a:solidFill>
            <a:srgbClr val="FFFFFF"/>
          </a:solidFill>
          <a:ln w="6350">
            <a:solidFill>
              <a:srgbClr val="DDE5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35950" y="3388320"/>
            <a:ext cx="2969387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B7A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Nearby care and export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35950" y="3779441"/>
            <a:ext cx="296938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Hospitals and clinics with Maps links. Download as Markdown.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3F7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by design: Python decides, the AI explains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2460030"/>
            <a:ext cx="5181600" cy="2082800"/>
          </a:xfrm>
          <a:prstGeom prst="roundRect">
            <a:avLst>
              <a:gd name="adj" fmla="val 4878"/>
            </a:avLst>
          </a:prstGeom>
          <a:solidFill>
            <a:srgbClr val="173A52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2714030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9A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does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25220" y="3145830"/>
            <a:ext cx="4747768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5580" indent="-1955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3F7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tests with regex rules</a:t>
            </a:r>
            <a:endParaRPr lang="en-US" sz="1500" dirty="0"/>
          </a:p>
          <a:p>
            <a:pPr algn="l" marL="195580" indent="-1955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3F7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Matches 48 known tests</a:t>
            </a:r>
            <a:endParaRPr lang="en-US" sz="1500" dirty="0"/>
          </a:p>
          <a:p>
            <a:pPr algn="l" marL="195580" indent="-1955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3F7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Compares values with ranges</a:t>
            </a:r>
            <a:endParaRPr lang="en-US" sz="1500" dirty="0"/>
          </a:p>
          <a:p>
            <a:pPr algn="l" marL="195580" indent="-1955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3F7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Finds critical values and patterns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7600" y="2460030"/>
            <a:ext cx="5181600" cy="2082800"/>
          </a:xfrm>
          <a:prstGeom prst="roundRect">
            <a:avLst>
              <a:gd name="adj" fmla="val 4878"/>
            </a:avLst>
          </a:prstGeom>
          <a:solidFill>
            <a:srgbClr val="173A52"/>
          </a:solidFill>
          <a:ln/>
        </p:spPr>
      </p:sp>
      <p:sp>
        <p:nvSpPr>
          <p:cNvPr id="7" name="Text 5"/>
          <p:cNvSpPr/>
          <p:nvPr/>
        </p:nvSpPr>
        <p:spPr>
          <a:xfrm>
            <a:off x="6451600" y="2714030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E9A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LLM does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10020" y="3145830"/>
            <a:ext cx="4747768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5580" indent="-1955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3F7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the explanation in fixed sections</a:t>
            </a:r>
            <a:endParaRPr lang="en-US" sz="1500" dirty="0"/>
          </a:p>
          <a:p>
            <a:pPr algn="l" marL="195580" indent="-1955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3F7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the overall summary</a:t>
            </a:r>
            <a:endParaRPr lang="en-US" sz="1500" dirty="0"/>
          </a:p>
          <a:p>
            <a:pPr algn="l" marL="195580" indent="-1955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3F7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 reader for messy text, checked against the original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574298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9D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never diagnoses and never suggests medicines.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used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17650"/>
          <a:ext cx="10553700" cy="4165402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4495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B6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Used for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B6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5"/>
                    </a:solidFill>
                  </a:tcPr>
                </a:tc>
              </a:tr>
              <a:tr h="4495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LLM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Mistral-Nemo-Instruct, 4-bit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Explanations and summary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8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95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RAG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FAISS + MiniLM embeddings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Finds the right knowledge entries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40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Chains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LangChain LLMChain, PromptTemplate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Prompts and steps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95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Parsers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StructuredOutputParser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Structured JSON output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95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Streamlit + ngrok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Interface and public link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95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PDF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pypdf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Reads report PDFs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40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Places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OpenStreetMap (Nominatim, Overpass)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Nearby hospitals, no API key</a:t>
                      </a:r>
                      <a:endParaRPr lang="en-US" sz="16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Limits to keep in mind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56996" y="2603698"/>
            <a:ext cx="10831576" cy="1752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9804" indent="-209804">
              <a:lnSpc>
                <a:spcPts val="2720"/>
              </a:lnSpc>
              <a:buSzPct val="100000"/>
              <a:buChar char="•"/>
            </a:pPr>
            <a:r>
              <a:rPr lang="en-US" sz="17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Explains results only. It does not diagnose or replace a doctor.</a:t>
            </a:r>
            <a:endParaRPr lang="en-US" sz="1700" dirty="0"/>
          </a:p>
          <a:p>
            <a:pPr algn="l" marL="209804" indent="-209804">
              <a:lnSpc>
                <a:spcPts val="2720"/>
              </a:lnSpc>
              <a:buSzPct val="100000"/>
              <a:buChar char="•"/>
            </a:pPr>
            <a:r>
              <a:rPr lang="en-US" sz="17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Covers 48 common tests. Others are shown but not explained.</a:t>
            </a:r>
            <a:endParaRPr lang="en-US" sz="1700" dirty="0"/>
          </a:p>
          <a:p>
            <a:pPr algn="l" marL="209804" indent="-209804">
              <a:lnSpc>
                <a:spcPts val="2720"/>
              </a:lnSpc>
              <a:buSzPct val="100000"/>
              <a:buChar char="•"/>
            </a:pPr>
            <a:r>
              <a:rPr lang="en-US" sz="17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ranges are for adults. The report's own range is used first.</a:t>
            </a:r>
            <a:endParaRPr lang="en-US" sz="1700" dirty="0"/>
          </a:p>
          <a:p>
            <a:pPr algn="l" marL="209804" indent="-209804">
              <a:lnSpc>
                <a:spcPts val="2720"/>
              </a:lnSpc>
              <a:buSzPct val="100000"/>
              <a:buChar char="•"/>
            </a:pPr>
            <a:r>
              <a:rPr lang="en-US" sz="17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Scanned PDFs are not supported.</a:t>
            </a:r>
            <a:endParaRPr lang="en-US" sz="1700" dirty="0"/>
          </a:p>
          <a:p>
            <a:pPr algn="l" marL="209804" indent="-209804">
              <a:lnSpc>
                <a:spcPts val="2720"/>
              </a:lnSpc>
              <a:buSzPct val="100000"/>
              <a:buChar char="•"/>
            </a:pPr>
            <a:r>
              <a:rPr lang="en-US" sz="1700" dirty="0">
                <a:solidFill>
                  <a:srgbClr val="1423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a GPU, so it runs on Kaggle or Colab.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56540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B7A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you.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ical Report Explainer">
  <a:themeElements>
    <a:clrScheme name="Medical Report Explainer">
      <a:dk1>
        <a:srgbClr val="14232E"/>
      </a:dk1>
      <a:lt1>
        <a:srgbClr val="F6F8F7"/>
      </a:lt1>
      <a:dk2>
        <a:srgbClr val="4D5860"/>
      </a:dk2>
      <a:lt2>
        <a:srgbClr val="DFE3E3"/>
      </a:lt2>
      <a:accent1>
        <a:srgbClr val="0B7A75"/>
      </a:accent1>
      <a:accent2>
        <a:srgbClr val="173A52"/>
      </a:accent2>
      <a:accent3>
        <a:srgbClr val="E9A23B"/>
      </a:accent3>
      <a:accent4>
        <a:srgbClr val="B9D3D0"/>
      </a:accent4>
      <a:accent5>
        <a:srgbClr val="4A5B66"/>
      </a:accent5>
      <a:accent6>
        <a:srgbClr val="9AA0A6"/>
      </a:accent6>
      <a:hlink>
        <a:srgbClr val="0563C1"/>
      </a:hlink>
      <a:folHlink>
        <a:srgbClr val="954F72"/>
      </a:folHlink>
    </a:clrScheme>
    <a:fontScheme name="Medical Report Explainer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Report Explainer</dc:title>
  <dc:subject/>
  <dc:creator/>
  <cp:lastModifiedBy/>
  <cp:revision>1</cp:revision>
  <dcterms:created xsi:type="dcterms:W3CDTF">2026-10-08T10:54:37Z</dcterms:created>
  <dcterms:modified xsi:type="dcterms:W3CDTF">2026-10-08T10:54:37Z</dcterms:modified>
</cp:coreProperties>
</file>